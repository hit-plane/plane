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各位评委老师好，我们是飞机大战项目组，下面由我们进行项目答辩。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本项目基于 JavaFX 采用三层架构实现，完整走完了需求、设计、编码、测试、优化的软件工程流程，并全程使用 AI 辅助开发且完成了核对。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接下来我用 8 分钟演示核心功能、讲解关键设计决策与软件工程过程，并说明 AI 使用与核对情况。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主要参与碰撞检测、受击特效、难度系统、炸弹道具的起草，我们逐一讲清其实现原理并完成核对。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例如碰撞检测是矩形四边重叠判定，AI 初稿在遍历中直接删除元素有并发修改风险，我们改为迭代器并补测试。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所有数字均来自工具真实输出：JaCoCo 覆盖率、surefire 用例数都有截图可出示。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系统采用经典三层架构：view 负责渲染，controller 负责事件转发与帧调度，model 负责全部游戏规则。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关键约束是单向依赖：view 只能调用 controller，controller 只能调用 model，model 零 JavaFX 依赖。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这样设计的好处是 Model 层可以脱离界面独立测试，这也是我们 261 个单元测试能跑起来的前提。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游戏主循环基于 AnimationTimer，每帧调用一次 tick，完成移动、碰撞、生成、判定四件事。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状态机采用布尔状态位加入口守卫实现：所有操作方法第一行判断暂停或结束直接返回。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选择状态位而不是枚举，是因为状态数量少、组合简单，避免过度设计。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碰撞检测采用矩形相交判定：两个矩形在 X 和 Y 方向同时有重叠即判定碰撞，实现简单且满足游戏精度需求。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关键工程细节是遍历中删除元素用迭代器，避免并发修改异常，这是 AI 初稿暴露、我们人工核对并修正的问题。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道具系统覆盖盾牌、炸弹、治疗，特效系统包含受击闪白与爆炸波，难度系统三档参数全部配置驱动。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全项目共 261 个单元测试用例全部通过，覆盖率数据来自 JaCoCo 工具真实输出，可现场出示截图。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总体指令覆盖 68%，其中 model 包 96%、util 92%、controller 84%，核心逻辑覆盖充分。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层以</a:t>
            </a: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JavaFX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渲染为主、单测覆盖</a:t>
            </a: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41%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，这部分通过手工联调与兜底录屏补充验证。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主要参与碰撞检测、受击特效、难度系统、炸弹道具的起草，我们逐一讲清其实现原理并完成核对。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例如碰撞检测是矩形四边重叠判定，AI 初稿在遍历中直接删除元素有并发修改风险，我们改为迭代器并补测试。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所有数字均来自工具真实输出：JaCoCo 覆盖率、surefire 用例数都有截图可出示。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项目完整走完软件工程流程：需求规格说明书定义 F01-F16，概要设计与详细设计输出类图、时序图、状态机与需求跟踪矩阵。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编码阶段严格分层并做 Git 分支管理，测试阶段 261 个用例与 JaCoCo 覆盖率双重验证，缺陷通过 QA 问题表管理。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优化阶段完成 10 项迭代，最终交付代码仓库、四份报告、答辩材料与部署说明。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风险处置强调登记与闭环：遍历删除改迭代器、暂停背景滚动加状态判断、首关不显示修初始化顺序、最高分统一初始值，均有提交记录可查。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部署上，用户双击 jar 需要 JRE 17 环境，图片资源目录随包分发，最高分按难度落盘。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已准备兜底录屏覆盖核心链路，现场任何环境问题可播放录屏完成演示。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总结：本项目证明了技术实现、软件工程过程、AI 使用与核对三项能力，数据均可溯源。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261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个测试全部通过、覆盖率来自</a:t>
            </a: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JaCoCo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真实输出、</a:t>
            </a: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生成代码都讲清了原理并完成核对。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感谢各位评委老师，下面进入问答环节。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1905000"/>
            <a:ext cx="9144000" cy="1219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5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飞机大战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778000" y="3276600"/>
            <a:ext cx="8636000" cy="660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基于 JavaFX 三层架构的软件工程实践与 AI 辅助开发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1458" flipH="false" flipV="false">
            <a:off x="4191011" y="4184650"/>
            <a:ext cx="381002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778000" y="4521200"/>
            <a:ext cx="8636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软件工程课程项目 结课答辩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5181600"/>
            <a:ext cx="8636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廖尉钧　孙浩凡　孙嘉晟　艾奕舟　霍睿深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5816600"/>
            <a:ext cx="86360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2026-09-15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B7B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52400"/>
            <a:ext cx="457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飞机大战 · 项目答辩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152400"/>
            <a:ext cx="76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07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660400"/>
            <a:ext cx="889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AI 使用与核对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5" flipH="false" flipV="false">
            <a:off x="508004" y="13652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08000" y="1600200"/>
          <a:ext cx="11176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2032000"/>
                <a:gridCol w="3048000"/>
                <a:gridCol w="4572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参与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实现原理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核对与修正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碰撞检测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矩形相交方法起草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四边重叠判定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46 用例；修正遍历中删除为迭代器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受击特效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HitEffect 类起草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按帧衰减 + 无敌帧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29 用例；修正触发时序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难度系统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三档参数设计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配置驱动参数覆盖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 用例；难度参数统一调参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炸弹道具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BombWave 起草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爆炸波扩散伤害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用例；数值调整平衡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508000" y="4902200"/>
            <a:ext cx="11176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核对三原则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数据只来自工具真实输出：覆盖率出自 JaCoCo、用例数出自 surefire，可现场出示截图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AI 起草报告与类名逐一核对一致；编码规范 10 条走查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讲清原理比回避更能获得认可：每段 AI 代码都能说明其实现机制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B7B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52400"/>
            <a:ext cx="457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飞机大战 · 项目答辩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152400"/>
            <a:ext cx="76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660400"/>
            <a:ext cx="889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系统架构：三层单向分层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5" flipH="false" flipV="false">
            <a:off x="508004" y="13652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1651000"/>
            <a:ext cx="228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单向依赖</a:t>
            </a:r>
            <a:r>
              <a:rPr lang="en-US" b="false" i="false" strike="noStrike" u="none" sz="13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Model 零 JavaFX</a:t>
            </a:r>
            <a:r>
              <a:rPr lang="en-US" b="false" i="false" strike="noStrike" u="none" sz="13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渲染不写逻辑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1778000"/>
            <a:ext cx="4826000" cy="914400"/>
          </a:xfrm>
          <a:prstGeom prst="roundRect">
            <a:avLst>
              <a:gd name="adj" fmla="val 0"/>
            </a:avLst>
          </a:prstGeom>
          <a:solidFill>
            <a:srgbClr val="002FA7">
              <a:alpha val="7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286000" y="1879600"/>
            <a:ext cx="4318000" cy="736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view 层</a:t>
            </a:r>
            <a:r>
              <a:rPr lang="en-US" b="false" i="false" strike="noStrike" u="none" sz="1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：GameView / MainMenuView / HUDView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292657" flipH="false" flipV="false">
            <a:off x="4241701" y="2889448"/>
            <a:ext cx="4065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2032000" y="3149600"/>
            <a:ext cx="4826000" cy="914400"/>
          </a:xfrm>
          <a:prstGeom prst="roundRect">
            <a:avLst>
              <a:gd name="adj" fmla="val 0"/>
            </a:avLst>
          </a:prstGeom>
          <a:solidFill>
            <a:srgbClr val="002FA7">
              <a:alpha val="7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286000" y="3251200"/>
            <a:ext cx="4318000" cy="736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controller 层</a:t>
            </a:r>
            <a:r>
              <a:rPr lang="en-US" b="false" i="false" strike="noStrike" u="none" sz="1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：GameController / InputHandler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292657" flipH="false" flipV="false">
            <a:off x="4241701" y="4261048"/>
            <a:ext cx="4065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2032000" y="4521200"/>
            <a:ext cx="4826000" cy="914400"/>
          </a:xfrm>
          <a:prstGeom prst="roundRect">
            <a:avLst>
              <a:gd name="adj" fmla="val 0"/>
            </a:avLst>
          </a:prstGeom>
          <a:solidFill>
            <a:srgbClr val="002FA7">
              <a:alpha val="7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286000" y="4622800"/>
            <a:ext cx="4318000" cy="736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model 层</a:t>
            </a:r>
            <a:r>
              <a:rPr lang="en-US" b="false" i="false" strike="noStrike" u="none" sz="1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：GameModelImpl / Player / Enemy / Item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874000" y="1651000"/>
            <a:ext cx="3810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分层决策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874000" y="2235200"/>
            <a:ext cx="3810000" cy="419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职责单一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渲染、调度、规则三者分离，互不越界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可测试性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Model 层纯 Java 零界面，261 个单元测试可独立运行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可维护性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改界面不动规则，改规则不动渲染，单点改动风险可控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B7B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52400"/>
            <a:ext cx="457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飞机大战 · 项目答辩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152400"/>
            <a:ext cx="76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660400"/>
            <a:ext cx="889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核心设计 1：主循环与状态机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5" flipH="false" flipV="false">
            <a:off x="508004" y="13652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1600200"/>
            <a:ext cx="6350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帧循环（每帧一次 tick）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2184400"/>
            <a:ext cx="1498600" cy="812800"/>
          </a:xfrm>
          <a:prstGeom prst="roundRect">
            <a:avLst>
              <a:gd name="adj" fmla="val 0"/>
            </a:avLst>
          </a:prstGeom>
          <a:solidFill>
            <a:srgbClr val="002FA7">
              <a:alpha val="7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2362200"/>
            <a:ext cx="12954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移动</a:t>
            </a: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实体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71530" flipH="false" flipV="false">
            <a:off x="2057559" y="2584450"/>
            <a:ext cx="2543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2362200" y="2184400"/>
            <a:ext cx="1498600" cy="812800"/>
          </a:xfrm>
          <a:prstGeom prst="roundRect">
            <a:avLst>
              <a:gd name="adj" fmla="val 0"/>
            </a:avLst>
          </a:prstGeom>
          <a:solidFill>
            <a:srgbClr val="002FA7">
              <a:alpha val="7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463800" y="2362200"/>
            <a:ext cx="12954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碰撞</a:t>
            </a: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检测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71530" flipH="false" flipV="false">
            <a:off x="3911759" y="2584450"/>
            <a:ext cx="2543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216400" y="2184400"/>
            <a:ext cx="1498600" cy="812800"/>
          </a:xfrm>
          <a:prstGeom prst="roundRect">
            <a:avLst>
              <a:gd name="adj" fmla="val 0"/>
            </a:avLst>
          </a:prstGeom>
          <a:solidFill>
            <a:srgbClr val="002FA7">
              <a:alpha val="7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18000" y="2362200"/>
            <a:ext cx="12954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敌机</a:t>
            </a: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生成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71530" flipH="false" flipV="false">
            <a:off x="5765959" y="2584450"/>
            <a:ext cx="2543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070600" y="2184400"/>
            <a:ext cx="1498600" cy="812800"/>
          </a:xfrm>
          <a:prstGeom prst="roundRect">
            <a:avLst>
              <a:gd name="adj" fmla="val 0"/>
            </a:avLst>
          </a:prstGeom>
          <a:solidFill>
            <a:srgbClr val="002FA7">
              <a:alpha val="7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172200" y="2362200"/>
            <a:ext cx="12954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结束</a:t>
            </a: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4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判定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3327400"/>
            <a:ext cx="6604000" cy="304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入口守卫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：所有操作方法首行判断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if (gameOver || paused) return;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暂停 / 结束时移动、射击、推进全部拦截，状态不被破坏。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状态实现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：布尔状态位 + 守卫，状态少、逻辑简单，不引入多余类。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0" y="1600200"/>
            <a:ext cx="4064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状态转移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0" y="2159000"/>
            <a:ext cx="4064000" cy="419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运行中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--P 键--&gt; </a:t>
            </a: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暂停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暂停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--P / R--&gt; </a:t>
            </a: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运行中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运行中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--生命归零--&gt; </a:t>
            </a: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游戏结束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游戏结束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--R 键--&gt; </a:t>
            </a: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运行中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（重置）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暂停 / 结束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--操作--&gt; 入口守卫拦截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B7B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52400"/>
            <a:ext cx="457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飞机大战 · 项目答辩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152400"/>
            <a:ext cx="76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660400"/>
            <a:ext cx="889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核心设计 2：碰撞检测与道具特效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5" flipH="false" flipV="false">
            <a:off x="508004" y="13652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1600200"/>
            <a:ext cx="6350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碰撞检测：矩形相交判定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2184400"/>
            <a:ext cx="660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a.x &lt; b.x + b.w 且 a.x + a.w &gt; b.x</a:t>
            </a:r>
            <a:r>
              <a:rPr lang="en-US" b="false" i="false" strike="noStrike" u="none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a.y &lt; b.y + b.h 且 a.y + a.h &gt; b.y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3200400"/>
            <a:ext cx="6604000" cy="317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双向判定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子弹-敌机：双方移除，分数 +100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敌机-玩家：敌机移除，生命 -1，归零进入结束状态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工程细节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遍历中使用迭代器 remove，避免并发修改异常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超出屏幕实体即时移除，防止越界累积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0" y="1600200"/>
            <a:ext cx="4064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道具与特效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0" y="2184400"/>
            <a:ext cx="4064000" cy="419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盾牌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：抵挡一次伤害，破盾后进入无敌帧防连续掉血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炸弹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：爆炸波扩散，范围清屏，数值可配置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受击特效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：HitEffect 按帧衰减，反馈清晰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治疗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：恢复生命值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难度系统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：三档难度由配置驱动，生成间隔、速度、分值统一调参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B7B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52400"/>
            <a:ext cx="457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飞机大战 · 项目答辩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152400"/>
            <a:ext cx="76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660400"/>
            <a:ext cx="889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测试与质量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5" flipH="false" flipV="false">
            <a:off x="508004" y="13652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1600200"/>
            <a:ext cx="7112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JaCoCo 覆盖率总览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136" r="136" t="0" b="0"/>
          <a:stretch>
            <a:fillRect/>
          </a:stretch>
        </p:blipFill>
        <p:spPr>
          <a:xfrm rot="0" flipH="false" flipV="false">
            <a:off x="508000" y="2159000"/>
            <a:ext cx="7112000" cy="160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508000" y="3911600"/>
            <a:ext cx="7112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1 JaCoCo 覆盖率总览（mvn clean test 真实输出）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4470400"/>
            <a:ext cx="7112000" cy="190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测试分层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：23 个测试类覆盖 model / controller / util / view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核心逻辑（model 96%、util 92%、controller 84%）覆盖充分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view 层 41%：JavaFX 渲染路径以手工联调与录屏验证为主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600200"/>
            <a:ext cx="3556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关键数据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159000"/>
            <a:ext cx="3556000" cy="419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261</a:t>
            </a:r>
            <a:r>
              <a:rPr lang="en-US" b="false" i="false" strike="noStrike" u="none" sz="17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个测试用例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全部通过，0 失败 0 错误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6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68%</a:t>
            </a:r>
            <a:r>
              <a:rPr lang="en-US" b="false" i="false" strike="noStrike" u="none" sz="17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指令覆盖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分支 63% ｜ 行 68.6% ｜ 方法 74.7%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6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96%</a:t>
            </a:r>
            <a:r>
              <a:rPr lang="en-US" b="false" i="false" strike="noStrike" u="none" sz="17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model 包指令覆盖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数据均来自工具真实输出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B7B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52400"/>
            <a:ext cx="457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飞机大战 · 项目答辩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152400"/>
            <a:ext cx="76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07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660400"/>
            <a:ext cx="889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AI 使用与核对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5" flipH="false" flipV="false">
            <a:off x="508004" y="13652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08000" y="1600200"/>
          <a:ext cx="11176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2032000"/>
                <a:gridCol w="3048000"/>
                <a:gridCol w="4572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参与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实现原理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核对与修正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碰撞检测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矩形相交方法起草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四边重叠判定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46 用例；修正遍历中删除为迭代器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受击特效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HitEffect 类起草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按帧衰减 + 无敌帧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29 用例；修正触发时序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难度系统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三档参数设计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配置驱动参数覆盖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 用例；难度参数统一调参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炸弹道具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BombWave 起草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爆炸波扩散伤害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用例；数值调整平衡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508000" y="4902200"/>
            <a:ext cx="11176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核对三原则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数据只来自工具真实输出：覆盖率出自 JaCoCo、用例数出自 surefire，可现场出示截图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AI 起草报告与类名逐一核对一致；编码规范 10 条走查</a:t>
            </a: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讲清原理比回避更能获得认可：每段 AI 代码都能说明其实现机制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B7B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52400"/>
            <a:ext cx="457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飞机大战 · 项目答辩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152400"/>
            <a:ext cx="76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08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660400"/>
            <a:ext cx="889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软件工程过程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5" flipH="false" flipV="false">
            <a:off x="508004" y="13652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-4296" flipH="false" flipV="false">
            <a:off x="1016004" y="2279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39800" y="2209800"/>
            <a:ext cx="152400" cy="152400"/>
          </a:xfrm>
          <a:prstGeom prst="ellipse">
            <a:avLst/>
          </a:prstGeom>
          <a:solidFill>
            <a:srgbClr val="002F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17800" y="2209800"/>
            <a:ext cx="152400" cy="152400"/>
          </a:xfrm>
          <a:prstGeom prst="ellipse">
            <a:avLst/>
          </a:prstGeom>
          <a:solidFill>
            <a:srgbClr val="002F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95800" y="2209800"/>
            <a:ext cx="152400" cy="152400"/>
          </a:xfrm>
          <a:prstGeom prst="ellipse">
            <a:avLst/>
          </a:prstGeom>
          <a:solidFill>
            <a:srgbClr val="002F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73800" y="2209800"/>
            <a:ext cx="152400" cy="152400"/>
          </a:xfrm>
          <a:prstGeom prst="ellipse">
            <a:avLst/>
          </a:prstGeom>
          <a:solidFill>
            <a:srgbClr val="002F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51800" y="2209800"/>
            <a:ext cx="152400" cy="152400"/>
          </a:xfrm>
          <a:prstGeom prst="ellipse">
            <a:avLst/>
          </a:prstGeom>
          <a:solidFill>
            <a:srgbClr val="002F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829800" y="2209800"/>
            <a:ext cx="152400" cy="152400"/>
          </a:xfrm>
          <a:prstGeom prst="ellipse">
            <a:avLst/>
          </a:prstGeom>
          <a:solidFill>
            <a:srgbClr val="002F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2540000"/>
            <a:ext cx="1524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需求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540000" y="2540000"/>
            <a:ext cx="1524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318000" y="2540000"/>
            <a:ext cx="1524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编码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0" y="2540000"/>
            <a:ext cx="1524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测试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74000" y="2540000"/>
            <a:ext cx="1524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优化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652000" y="2540000"/>
            <a:ext cx="1524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交付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" y="3175000"/>
            <a:ext cx="5588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过程记录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" y="3759200"/>
            <a:ext cx="5588000" cy="266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需求：需求规格说明书 F01-F16，含用例图、活动图、验收标准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设计：概要 + 详细设计说明书，类图、时序图、状态机、跟踪矩阵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编码：三层架构落地，Model 零 JavaFX，Git 分支管理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测试：261 个用例 + JaCoCo 覆盖率 + QA 问题表缺陷管理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优化：10 项迭代（缩放适配、特效修复、数值平衡等）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协作：79 次提交 · 5 名成员 · 需求设计测试优化全员参与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3175000"/>
            <a:ext cx="5080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交付物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3759200"/>
            <a:ext cx="5080000" cy="266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代码仓库：完整提交历史 + 发布 tag v1.0.0-release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过程文档：需求 / 设计 / 测试 / 优化报告，缺陷统计真实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答辩材料：本 PPT、互评表、兜底录屏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AI 核对痕迹：AI 使用与核对说明，数据可溯源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部署说明：jar + JRE 17 + 资源目录运行关系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B7B7B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52400"/>
            <a:ext cx="457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飞机大战 · 项目答辩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0" y="152400"/>
            <a:ext cx="762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09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660400"/>
            <a:ext cx="889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风险处置与交付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5" flipH="false" flipV="false">
            <a:off x="508004" y="13652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1600200"/>
            <a:ext cx="6350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风险与处置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2184400"/>
            <a:ext cx="6604000" cy="419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遍历中删除元素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并发修改异常风险，处置：改用迭代器 remove 并补充测试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暂停时背景滚动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状态不一致，处置：帧循环加入暂停状态判断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首次开始不显示第一关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初始化顺序问题，处置：修正关卡初始化流程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最高分文件初始值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读写不一致，处置：统一初始化为 0 并修复上传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0" y="1600200"/>
            <a:ext cx="4064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部署与交付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0" y="2184400"/>
            <a:ext cx="4064000" cy="419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运行环境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：JRE / JDK 17 + JavaFX 17.0.8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启动方式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：双击 jar 或 java -jar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资源目录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：图片素材随包分发，缺失时画面无法渲染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存档文件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：最高分按难度写入本地文件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兜底录屏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：已录制核心链路，现场环境异常时可播放演示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660400"/>
            <a:ext cx="889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总结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05" flipH="false" flipV="false">
            <a:off x="508004" y="13652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508000" y="1778000"/>
            <a:ext cx="11176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十天练的不是"做完一个游戏"，而是三项能力：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懂技术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：JavaFX 三层架构、主循环、碰撞检测、状态机，全部讲得清原理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懂软件工程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：需求、设计、测试、缺陷、优化全流程留痕，数据可溯源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会用 AI 且会核对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：AI 起草、人工核对、覆盖率与用例真实可出示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3810000"/>
            <a:ext cx="1117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五维自评：技术实现通过（261 用例全绿）· 软件工程过程完整 · AI 应用与核对齐备 · 展示表达精简 · 分工与风险处置清晰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1458" flipH="false" flipV="false">
            <a:off x="4191011" y="5073650"/>
            <a:ext cx="381002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048000" y="5334000"/>
            <a:ext cx="609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谢谢各位评委，请提问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68000" y="6190112"/>
            <a:ext cx="1524000" cy="66788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